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8100" cap="flat">
              <a:solidFill>
                <a:srgbClr val="C1652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1652F"/>
              </a:solidFill>
              <a:ln w="9525" cap="flat">
                <a:solidFill>
                  <a:srgbClr val="C1652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B14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Gold</c:v>
                </c:pt>
                <c:pt idx="1">
                  <c:v>Platinum</c:v>
                </c:pt>
                <c:pt idx="2">
                  <c:v>Silver</c:v>
                </c:pt>
                <c:pt idx="3">
                  <c:v>Unknown</c:v>
                </c:pt>
                <c:pt idx="4">
                  <c:v>Walk-in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56.4</c:v>
                </c:pt>
                <c:pt idx="1">
                  <c:v>59.2</c:v>
                </c:pt>
                <c:pt idx="2">
                  <c:v>53.8</c:v>
                </c:pt>
                <c:pt idx="3">
                  <c:v>57.6</c:v>
                </c:pt>
                <c:pt idx="4">
                  <c:v>64.099999999999994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B1-493D-8F4C-E84717DC0CA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6C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65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D7-4D1B-8AE0-31B178F4B0C3}"/>
              </c:ext>
            </c:extLst>
          </c:dPt>
          <c:dPt>
            <c:idx val="1"/>
            <c:bubble3D val="0"/>
            <c:spPr>
              <a:solidFill>
                <a:srgbClr val="3B2A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D7-4D1B-8AE0-31B178F4B0C3}"/>
              </c:ext>
            </c:extLst>
          </c:dPt>
          <c:dPt>
            <c:idx val="2"/>
            <c:bubble3D val="0"/>
            <c:spPr>
              <a:solidFill>
                <a:srgbClr val="D6A2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D7-4D1B-8AE0-31B178F4B0C3}"/>
              </c:ext>
            </c:extLst>
          </c:dPt>
          <c:dPt>
            <c:idx val="3"/>
            <c:bubble3D val="0"/>
            <c:spPr>
              <a:solidFill>
                <a:srgbClr val="748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D7-4D1B-8AE0-31B178F4B0C3}"/>
              </c:ext>
            </c:extLst>
          </c:dPt>
          <c:dPt>
            <c:idx val="4"/>
            <c:bubble3D val="0"/>
            <c:spPr>
              <a:solidFill>
                <a:srgbClr val="B089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D7-4D1B-8AE0-31B178F4B0C3}"/>
              </c:ext>
            </c:extLst>
          </c:dPt>
          <c:dPt>
            <c:idx val="5"/>
            <c:bubble3D val="0"/>
            <c:spPr>
              <a:solidFill>
                <a:srgbClr val="8C6A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D7-4D1B-8AE0-31B178F4B0C3}"/>
              </c:ext>
            </c:extLst>
          </c:dPt>
          <c:dPt>
            <c:idx val="6"/>
            <c:bubble3D val="0"/>
            <c:spPr>
              <a:solidFill>
                <a:srgbClr val="D9CB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CD7-4D1B-8AE0-31B178F4B0C3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D7-4D1B-8AE0-31B178F4B0C3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D7-4D1B-8AE0-31B178F4B0C3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D7-4D1B-8AE0-31B178F4B0C3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D7-4D1B-8AE0-31B178F4B0C3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D7-4D1B-8AE0-31B178F4B0C3}"/>
                </c:ext>
              </c:extLst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CD7-4D1B-8AE0-31B178F4B0C3}"/>
                </c:ext>
              </c:extLst>
            </c:dLbl>
            <c:dLbl>
              <c:idx val="6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CD7-4D1B-8AE0-31B178F4B0C3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Card</c:v>
                </c:pt>
                <c:pt idx="1">
                  <c:v>Cash</c:v>
                </c:pt>
                <c:pt idx="2">
                  <c:v>GPay</c:v>
                </c:pt>
                <c:pt idx="3">
                  <c:v>PhonePe</c:v>
                </c:pt>
                <c:pt idx="4">
                  <c:v>UPI</c:v>
                </c:pt>
                <c:pt idx="5">
                  <c:v>Google Pay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17</c:v>
                </c:pt>
                <c:pt idx="2">
                  <c:v>16</c:v>
                </c:pt>
                <c:pt idx="3">
                  <c:v>13</c:v>
                </c:pt>
                <c:pt idx="4">
                  <c:v>12</c:v>
                </c:pt>
                <c:pt idx="5">
                  <c:v>12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CD7-4D1B-8AE0-31B178F4B0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A1B1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</c:v>
                </c:pt>
              </c:strCache>
            </c:strRef>
          </c:tx>
          <c:spPr>
            <a:solidFill>
              <a:srgbClr val="3B2A2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07 AM</c:v>
                </c:pt>
                <c:pt idx="1">
                  <c:v>09 AM</c:v>
                </c:pt>
                <c:pt idx="2">
                  <c:v>11 AM</c:v>
                </c:pt>
                <c:pt idx="3">
                  <c:v>01 PM</c:v>
                </c:pt>
                <c:pt idx="4">
                  <c:v>03 PM</c:v>
                </c:pt>
                <c:pt idx="5">
                  <c:v>05 PM</c:v>
                </c:pt>
                <c:pt idx="6">
                  <c:v>07 PM</c:v>
                </c:pt>
                <c:pt idx="7">
                  <c:v>09 PM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</c:v>
                </c:pt>
                <c:pt idx="1">
                  <c:v>88</c:v>
                </c:pt>
                <c:pt idx="2">
                  <c:v>74</c:v>
                </c:pt>
                <c:pt idx="3">
                  <c:v>60</c:v>
                </c:pt>
                <c:pt idx="4">
                  <c:v>48</c:v>
                </c:pt>
                <c:pt idx="5">
                  <c:v>36</c:v>
                </c:pt>
                <c:pt idx="6">
                  <c:v>24</c:v>
                </c:pt>
                <c:pt idx="7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25-44BD-AD3D-B82093E8D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4D6C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165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1B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Cup</c:v>
                </c:pt>
                <c:pt idx="1">
                  <c:v>Plate</c:v>
                </c:pt>
                <c:pt idx="2">
                  <c:v>Glass</c:v>
                </c:pt>
                <c:pt idx="3">
                  <c:v>Piece</c:v>
                </c:pt>
                <c:pt idx="4">
                  <c:v>Bottle</c:v>
                </c:pt>
                <c:pt idx="5">
                  <c:v>Slice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10</c:v>
                </c:pt>
                <c:pt idx="2">
                  <c:v>5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57-47F2-85FA-3BAA0BC1D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6C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4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C1F1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C1F1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6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BEAN COFFEE SHOP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7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&amp; Business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Outlet Performance, Customer Behaviour, and Growth Opportunities Across 10 Tamil Nadu Outlets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25400">
            <a:solidFill>
              <a:srgbClr val="C16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257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3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Ranjith  T Junior data analyst</a:t>
            </a:r>
            <a:r>
              <a:rPr lang="en-US" sz="130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30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
</a:t>
            </a:r>
            <a:r>
              <a:rPr lang="en-US" sz="1300" b="1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r>
              <a:rPr lang="en-US" sz="130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Outlet, Inventory, Product, Promotion &amp; Transaction Records (Excel)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5CEFF9-B19B-1674-C06C-EE47EE657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240" y="336177"/>
            <a:ext cx="2662876" cy="197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Profitable, Fast-Growing Coffee Business Anchored in Morning Rush &amp; Digital Payments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BrewBean analytics project consolidates sales, product, outlet, inventory, promotion and customer transaction data across 10 outlets into a single interactive dashboard. Over the analysed period, the business generated strong profitability with a healthy margin, driven largely by beverage sales during the morning hours and increasing digital payment adoption. Customer satisfaction, however, trails profitability -- signalling a clear opportunity to translate commercial strength into a better customer experience.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308152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4495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$293,688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outlets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9392" y="2880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308152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304495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$175,869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36592" y="3611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business profit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55864" y="2880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308152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304495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13064" y="3611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13064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526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72744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60120" y="52578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5532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9392" y="4526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472744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44,572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36592" y="52578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5532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 units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55864" y="4526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76200" dist="25400" dir="5400000" algn="bl" rotWithShape="0">
              <a:srgbClr val="3B2A2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57032" y="4727448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D6A24C"/>
          </a:solidFill>
          <a:ln/>
        </p:spPr>
      </p:sp>
      <p:sp>
        <p:nvSpPr>
          <p:cNvPr id="33" name="Text 31"/>
          <p:cNvSpPr/>
          <p:nvPr/>
        </p:nvSpPr>
        <p:spPr>
          <a:xfrm>
            <a:off x="8513064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3.4 / 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513064" y="52578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13064" y="5532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 score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Context &amp; Analysis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3B2A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operates 10 outlets across Tamil Nadu (Coimbatore, Madurai, Salem, Tiruppur, Trichy and surrounding towns). Leadership has visibility into individual transactions but lacks a unified view of which outlets, products, campaigns and payment channels actually drive revenue and profit -- making it difficult to prioritise inventory, staffing and marketing spend with confidence.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4663440" cy="0"/>
          </a:xfrm>
          <a:prstGeom prst="line">
            <a:avLst/>
          </a:prstGeom>
          <a:noFill/>
          <a:ln w="19050">
            <a:solidFill>
              <a:srgbClr val="C16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159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68172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turns scattered outlet, inventory, product, promotion and transaction records into decisions leadership can act on this quarter -- from restocking to campaign renewal.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6916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AIMS TO SOLVE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532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231136"/>
            <a:ext cx="402336" cy="402336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22008" y="211226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Performance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22008" y="237744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of the 10 outlets drive the most revenue and profit, and which underperform.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916936"/>
            <a:ext cx="5532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090672"/>
            <a:ext cx="402336" cy="402336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22008" y="2971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Mix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22008" y="32369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best-selling products and categories to guide inventory and menu decisions.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776472"/>
            <a:ext cx="5532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950208"/>
            <a:ext cx="402336" cy="402336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22008" y="38313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22008" y="409651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segment value (Gold/Platinum/Silver/Walk-in) and peak buying hours.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4636008"/>
            <a:ext cx="5532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809744"/>
            <a:ext cx="402336" cy="402336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22008" y="46908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Effectiveness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22008" y="495604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which campaigns generate the strongest sales lift and ROI.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5495544"/>
            <a:ext cx="5532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5669280"/>
            <a:ext cx="402336" cy="402336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22008" y="55504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Operations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22008" y="581558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payment-method adoption and operational timing to plan staffing and channels.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 (1/2): Customer Value &amp; Payment Behaviour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Segment ($K)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96596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5544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 (%)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00800" y="1920240"/>
          <a:ext cx="5166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4983480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3B2A20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7240" y="54132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customers generate the highest segment revenue (~$64K)</a:t>
            </a:r>
            <a:r>
              <a:rPr lang="en-US" sz="12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ahead of Gold, Platinum and Silver loyalty tiers, showing many high-value customers aren't yet enrolled in the loyalty programme.
</a:t>
            </a:r>
            <a:r>
              <a:rPr lang="en-US" sz="12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(GPay + PhonePe + UPI + Google Pay) together account for 53% of payments</a:t>
            </a:r>
            <a:r>
              <a:rPr lang="en-US" sz="12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edging out card and cash combined -- confirming strong UPI adoption among Tamil Nadu customers.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 (2/2): Peak Hours, Product Mix &amp; Campaigns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Hours by Sales (relative volume)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96596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5544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Sold, by Unit Type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00800" y="1965960"/>
          <a:ext cx="51663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4983480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3B2A20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7240" y="54132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sharply between 7-9 AM</a:t>
            </a:r>
            <a:r>
              <a:rPr lang="en-US" sz="12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taper through the day, confirming BrewBean is a morning-rush, beverage-led business.
</a:t>
            </a:r>
            <a:r>
              <a:rPr lang="en-US" sz="12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Cup-based items dominate unit sales</a:t>
            </a:r>
            <a:r>
              <a:rPr lang="en-US" sz="12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plates, glasses and bottles, while the </a:t>
            </a:r>
            <a:r>
              <a:rPr lang="en-US" sz="12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"Weekend Family" and "Summer Chillers" campaigns</a:t>
            </a:r>
            <a:r>
              <a:rPr lang="en-US" sz="12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 promotion performance; customer rating sits at a modest 3.4/5.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B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7452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242316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walk-ins into loyalty members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89864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at-till loyalty sign-up (QR/app) targeting the walk-in segment, which already out-earns Gold, Platinum and Silver tiers combined per visit.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874520"/>
            <a:ext cx="457200" cy="457200"/>
          </a:xfrm>
          <a:prstGeom prst="ellipse">
            <a:avLst/>
          </a:prstGeom>
          <a:solidFill>
            <a:srgbClr val="748C5B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42316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morning rush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89864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staffing, pre-batch beverages, and run 7-9 AM flash offers to protect service speed during the single busiest window of the day.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187452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242316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digital payment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93608" y="289864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GPay, PhonePe and UPI checkout is fast and incentivised, since digital wallets already handle 53% of transactions.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023360"/>
            <a:ext cx="457200" cy="457200"/>
          </a:xfrm>
          <a:prstGeom prst="ellipse">
            <a:avLst/>
          </a:prstGeom>
          <a:solidFill>
            <a:srgbClr val="748C5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" y="4572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Re-invest in top campaigns, retire laggards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" y="504748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"Weekend Family" and "Summer Chillers" style promotions; redesign or retire lowest-performing campaigns such as "Buy 1 Get 1 Coffee".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02336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8848" y="4572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inventory around cup-based items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8848" y="504748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stock and supplier orders toward high-turnover cup-based beverages/snacks rather than lower-velocity plate and bottle items.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9244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blurRad="63500" dist="25400" dir="5400000" algn="bl" rotWithShape="0">
              <a:srgbClr val="3B2A2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023360"/>
            <a:ext cx="457200" cy="457200"/>
          </a:xfrm>
          <a:prstGeom prst="ellipse">
            <a:avLst/>
          </a:prstGeom>
          <a:solidFill>
            <a:srgbClr val="748C5B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608" y="4572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service-quality improvement plan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93608" y="5047488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3.4/5 rating via in-store feedback and mystery visits at the lowest-rated outlets to close the gap between strong profit and average experience.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C1F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Implementation Roadmap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phased, 12-week plan to turn insights into measurable outlet-level impact.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463323"/>
          </a:solidFill>
          <a:ln w="12700">
            <a:solidFill>
              <a:srgbClr val="5A46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4884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606040"/>
            <a:ext cx="2670048" cy="320040"/>
          </a:xfrm>
          <a:prstGeom prst="rect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2585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2514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30632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Stabilise &amp; Align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" y="3666744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dashboard data across all 10 outlets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" y="4379976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KPI baseline with outlet managers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" y="5093208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9926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lowest-rated outlets for a service audit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14884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463323"/>
          </a:solidFill>
          <a:ln w="12700">
            <a:solidFill>
              <a:srgbClr val="5A46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214884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2606040"/>
            <a:ext cx="2670048" cy="320040"/>
          </a:xfrm>
          <a:prstGeom prst="rect">
            <a:avLst/>
          </a:prstGeom>
          <a:solidFill>
            <a:srgbClr val="C1652F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22585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38728" y="2514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38728" y="30632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38728" y="3666744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26" name="Text 24"/>
          <p:cNvSpPr/>
          <p:nvPr/>
        </p:nvSpPr>
        <p:spPr>
          <a:xfrm>
            <a:off x="3721608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walk-in loyalty QR sign-up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38728" y="4379976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28" name="Text 26"/>
          <p:cNvSpPr/>
          <p:nvPr/>
        </p:nvSpPr>
        <p:spPr>
          <a:xfrm>
            <a:off x="3721608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7-9 AM staffing &amp; prep playbook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38728" y="5093208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30" name="Text 28"/>
          <p:cNvSpPr/>
          <p:nvPr/>
        </p:nvSpPr>
        <p:spPr>
          <a:xfrm>
            <a:off x="3721608" y="49926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UPI/wallet checkout incentives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14884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463323"/>
          </a:solidFill>
          <a:ln w="12700">
            <a:solidFill>
              <a:srgbClr val="5A46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14884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2200" y="2606040"/>
            <a:ext cx="2670048" cy="320040"/>
          </a:xfrm>
          <a:prstGeom prst="rect">
            <a:avLst/>
          </a:prstGeom>
          <a:solidFill>
            <a:srgbClr val="C1652F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22585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73368" y="2514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73368" y="30632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3368" y="3666744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Re-launch top campaigns (Weekend Family, Summer Chillers)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73368" y="4379976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inventory toward cup-based items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73368" y="5093208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42" name="Text 40"/>
          <p:cNvSpPr/>
          <p:nvPr/>
        </p:nvSpPr>
        <p:spPr>
          <a:xfrm>
            <a:off x="6556248" y="49926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or redesign lowest-ROI promotions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06840" y="2148840"/>
            <a:ext cx="2670048" cy="3977640"/>
          </a:xfrm>
          <a:prstGeom prst="roundRect">
            <a:avLst>
              <a:gd name="adj" fmla="val 2740"/>
            </a:avLst>
          </a:prstGeom>
          <a:solidFill>
            <a:srgbClr val="463323"/>
          </a:solidFill>
          <a:ln w="12700">
            <a:solidFill>
              <a:srgbClr val="5A46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6840" y="214884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45" name="Shape 43"/>
          <p:cNvSpPr/>
          <p:nvPr/>
        </p:nvSpPr>
        <p:spPr>
          <a:xfrm>
            <a:off x="9006840" y="2606040"/>
            <a:ext cx="2670048" cy="320040"/>
          </a:xfrm>
          <a:prstGeom prst="rect">
            <a:avLst/>
          </a:prstGeom>
          <a:solidFill>
            <a:srgbClr val="C1652F"/>
          </a:solidFill>
          <a:ln/>
        </p:spPr>
      </p:sp>
      <p:sp>
        <p:nvSpPr>
          <p:cNvPr id="46" name="Text 44"/>
          <p:cNvSpPr/>
          <p:nvPr/>
        </p:nvSpPr>
        <p:spPr>
          <a:xfrm>
            <a:off x="9208008" y="22585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208008" y="2514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08008" y="30632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&amp; Scale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08008" y="3666744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50" name="Text 48"/>
          <p:cNvSpPr/>
          <p:nvPr/>
        </p:nvSpPr>
        <p:spPr>
          <a:xfrm>
            <a:off x="9390888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revenue, margin &amp; rating vs. baseline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208008" y="4379976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52" name="Text 50"/>
          <p:cNvSpPr/>
          <p:nvPr/>
        </p:nvSpPr>
        <p:spPr>
          <a:xfrm>
            <a:off x="9390888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winning playbooks to all outlets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08008" y="5093208"/>
            <a:ext cx="82296" cy="82296"/>
          </a:xfrm>
          <a:prstGeom prst="ellipse">
            <a:avLst/>
          </a:prstGeom>
          <a:solidFill>
            <a:srgbClr val="D6A24C"/>
          </a:solidFill>
          <a:ln/>
        </p:spPr>
      </p:sp>
      <p:sp>
        <p:nvSpPr>
          <p:cNvPr id="54" name="Text 52"/>
          <p:cNvSpPr/>
          <p:nvPr/>
        </p:nvSpPr>
        <p:spPr>
          <a:xfrm>
            <a:off x="9390888" y="49926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next-quarter targets &amp; dashboard cadence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" y="619963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Analytics &amp; Operations Team   |   Success Metric: +5 pts margin retention, rating → 4.0+, walk-in loyalty conversion ≥ 20%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Coffee Shop  |  Sales &amp; Business Analytics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983</Words>
  <Application>Microsoft Office PowerPoint</Application>
  <PresentationFormat>Widescreen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ranjith karthi</cp:lastModifiedBy>
  <cp:revision>3</cp:revision>
  <dcterms:created xsi:type="dcterms:W3CDTF">2026-09-10T16:43:27Z</dcterms:created>
  <dcterms:modified xsi:type="dcterms:W3CDTF">2026-09-11T06:40:41Z</dcterms:modified>
</cp:coreProperties>
</file>