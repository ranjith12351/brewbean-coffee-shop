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ln w="38100" cap="flat">
              <a:solidFill>
                <a:srgbClr val="C1652F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C1652F"/>
              </a:solidFill>
              <a:ln w="9525" cap="flat">
                <a:solidFill>
                  <a:srgbClr val="C1652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A1B14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Gold</c:v>
                </c:pt>
                <c:pt idx="1">
                  <c:v>Platinum</c:v>
                </c:pt>
                <c:pt idx="2">
                  <c:v>Silver</c:v>
                </c:pt>
                <c:pt idx="3">
                  <c:v>Unknown</c:v>
                </c:pt>
                <c:pt idx="4">
                  <c:v>Walk-in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56.4</c:v>
                </c:pt>
                <c:pt idx="1">
                  <c:v>59.2</c:v>
                </c:pt>
                <c:pt idx="2">
                  <c:v>53.8</c:v>
                </c:pt>
                <c:pt idx="3">
                  <c:v>57.6</c:v>
                </c:pt>
                <c:pt idx="4">
                  <c:v>64.099999999999994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B1-493D-8F4C-E84717DC0CA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4D6C3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B5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165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CD7-4D1B-8AE0-31B178F4B0C3}"/>
              </c:ext>
            </c:extLst>
          </c:dPt>
          <c:dPt>
            <c:idx val="1"/>
            <c:bubble3D val="0"/>
            <c:spPr>
              <a:solidFill>
                <a:srgbClr val="3B2A2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CD7-4D1B-8AE0-31B178F4B0C3}"/>
              </c:ext>
            </c:extLst>
          </c:dPt>
          <c:dPt>
            <c:idx val="2"/>
            <c:bubble3D val="0"/>
            <c:spPr>
              <a:solidFill>
                <a:srgbClr val="D6A2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CD7-4D1B-8AE0-31B178F4B0C3}"/>
              </c:ext>
            </c:extLst>
          </c:dPt>
          <c:dPt>
            <c:idx val="3"/>
            <c:bubble3D val="0"/>
            <c:spPr>
              <a:solidFill>
                <a:srgbClr val="748C5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CD7-4D1B-8AE0-31B178F4B0C3}"/>
              </c:ext>
            </c:extLst>
          </c:dPt>
          <c:dPt>
            <c:idx val="4"/>
            <c:bubble3D val="0"/>
            <c:spPr>
              <a:solidFill>
                <a:srgbClr val="B0896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CD7-4D1B-8AE0-31B178F4B0C3}"/>
              </c:ext>
            </c:extLst>
          </c:dPt>
          <c:dPt>
            <c:idx val="5"/>
            <c:bubble3D val="0"/>
            <c:spPr>
              <a:solidFill>
                <a:srgbClr val="8C6A5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CD7-4D1B-8AE0-31B178F4B0C3}"/>
              </c:ext>
            </c:extLst>
          </c:dPt>
          <c:dPt>
            <c:idx val="6"/>
            <c:bubble3D val="0"/>
            <c:spPr>
              <a:solidFill>
                <a:srgbClr val="D9CB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CD7-4D1B-8AE0-31B178F4B0C3}"/>
              </c:ext>
            </c:extLst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CD7-4D1B-8AE0-31B178F4B0C3}"/>
                </c:ext>
              </c:extLst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CD7-4D1B-8AE0-31B178F4B0C3}"/>
                </c:ext>
              </c:extLst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CD7-4D1B-8AE0-31B178F4B0C3}"/>
                </c:ext>
              </c:extLst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CD7-4D1B-8AE0-31B178F4B0C3}"/>
                </c:ext>
              </c:extLst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CD7-4D1B-8AE0-31B178F4B0C3}"/>
                </c:ext>
              </c:extLst>
            </c:dLbl>
            <c:dLbl>
              <c:idx val="5"/>
              <c:numFmt formatCode="0&quot;%&quot;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CD7-4D1B-8AE0-31B178F4B0C3}"/>
                </c:ext>
              </c:extLst>
            </c:dLbl>
            <c:dLbl>
              <c:idx val="6"/>
              <c:numFmt formatCode="0&quot;%&quot;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CD7-4D1B-8AE0-31B178F4B0C3}"/>
                </c:ext>
              </c:extLst>
            </c:dLbl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Card</c:v>
                </c:pt>
                <c:pt idx="1">
                  <c:v>Cash</c:v>
                </c:pt>
                <c:pt idx="2">
                  <c:v>GPay</c:v>
                </c:pt>
                <c:pt idx="3">
                  <c:v>PhonePe</c:v>
                </c:pt>
                <c:pt idx="4">
                  <c:v>UPI</c:v>
                </c:pt>
                <c:pt idx="5">
                  <c:v>Google Pay</c:v>
                </c:pt>
                <c:pt idx="6">
                  <c:v>Other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</c:v>
                </c:pt>
                <c:pt idx="1">
                  <c:v>17</c:v>
                </c:pt>
                <c:pt idx="2">
                  <c:v>16</c:v>
                </c:pt>
                <c:pt idx="3">
                  <c:v>13</c:v>
                </c:pt>
                <c:pt idx="4">
                  <c:v>12</c:v>
                </c:pt>
                <c:pt idx="5">
                  <c:v>12</c:v>
                </c:pt>
                <c:pt idx="6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5CD7-4D1B-8AE0-31B178F4B0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A1B14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Volume</c:v>
                </c:pt>
              </c:strCache>
            </c:strRef>
          </c:tx>
          <c:spPr>
            <a:solidFill>
              <a:srgbClr val="3B2A20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07 AM</c:v>
                </c:pt>
                <c:pt idx="1">
                  <c:v>09 AM</c:v>
                </c:pt>
                <c:pt idx="2">
                  <c:v>11 AM</c:v>
                </c:pt>
                <c:pt idx="3">
                  <c:v>01 PM</c:v>
                </c:pt>
                <c:pt idx="4">
                  <c:v>03 PM</c:v>
                </c:pt>
                <c:pt idx="5">
                  <c:v>05 PM</c:v>
                </c:pt>
                <c:pt idx="6">
                  <c:v>07 PM</c:v>
                </c:pt>
                <c:pt idx="7">
                  <c:v>09 PM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98</c:v>
                </c:pt>
                <c:pt idx="1">
                  <c:v>88</c:v>
                </c:pt>
                <c:pt idx="2">
                  <c:v>74</c:v>
                </c:pt>
                <c:pt idx="3">
                  <c:v>60</c:v>
                </c:pt>
                <c:pt idx="4">
                  <c:v>48</c:v>
                </c:pt>
                <c:pt idx="5">
                  <c:v>36</c:v>
                </c:pt>
                <c:pt idx="6">
                  <c:v>24</c:v>
                </c:pt>
                <c:pt idx="7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25-44BD-AD3D-B82093E8D4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4D6C3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B5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spPr>
            <a:solidFill>
              <a:srgbClr val="C1652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A1B14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Cup</c:v>
                </c:pt>
                <c:pt idx="1">
                  <c:v>Plate</c:v>
                </c:pt>
                <c:pt idx="2">
                  <c:v>Glass</c:v>
                </c:pt>
                <c:pt idx="3">
                  <c:v>Piece</c:v>
                </c:pt>
                <c:pt idx="4">
                  <c:v>Bottle</c:v>
                </c:pt>
                <c:pt idx="5">
                  <c:v>Slice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</c:v>
                </c:pt>
                <c:pt idx="1">
                  <c:v>10</c:v>
                </c:pt>
                <c:pt idx="2">
                  <c:v>5</c:v>
                </c:pt>
                <c:pt idx="3">
                  <c:v>5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357-47F2-85FA-3BAA0BC1DB7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4D6C3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B5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2042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2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754880" cy="4754880"/>
          </a:xfrm>
          <a:prstGeom prst="ellipse">
            <a:avLst/>
          </a:prstGeom>
          <a:solidFill>
            <a:srgbClr val="2C1F17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206240"/>
            <a:ext cx="4206240" cy="4206240"/>
          </a:xfrm>
          <a:prstGeom prst="ellipse">
            <a:avLst/>
          </a:prstGeom>
          <a:solidFill>
            <a:srgbClr val="2C1F1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331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6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BREW BEAN COFFEE SHOP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743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7EFE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Sales &amp; Business Analytics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822960" y="379476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D8C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Data-Driven Review of Outlet Performance, Customer Behaviour, and Growth Opportunities Across 10 Tamil Nadu Outlets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5074920"/>
            <a:ext cx="3840480" cy="0"/>
          </a:xfrm>
          <a:prstGeom prst="line">
            <a:avLst/>
          </a:prstGeom>
          <a:noFill/>
          <a:ln w="25400">
            <a:solidFill>
              <a:srgbClr val="C165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525780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C9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 </a:t>
            </a:r>
            <a:r>
              <a:rPr lang="en-US" sz="1300" b="1" dirty="0">
                <a:solidFill>
                  <a:srgbClr val="F7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Ranjith  T Junior data analyst</a:t>
            </a:r>
            <a:r>
              <a:rPr lang="en-US" sz="1300" dirty="0">
                <a:solidFill>
                  <a:srgbClr val="F7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300" b="1" dirty="0">
                <a:solidFill>
                  <a:srgbClr val="C9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 </a:t>
            </a:r>
            <a:r>
              <a:rPr lang="en-US" sz="1300" dirty="0">
                <a:solidFill>
                  <a:srgbClr val="F7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
</a:t>
            </a:r>
            <a:r>
              <a:rPr lang="en-US" sz="1300" b="1" dirty="0">
                <a:solidFill>
                  <a:srgbClr val="C9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 </a:t>
            </a:r>
            <a:r>
              <a:rPr lang="en-US" sz="1300" dirty="0">
                <a:solidFill>
                  <a:srgbClr val="F7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Outlet, Inventory, Product, Promotion &amp; Transaction Records (Excel)</a:t>
            </a:r>
            <a:endParaRPr lang="en-US" sz="13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65CEFF9-B19B-1674-C06C-EE47EE6571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77240" y="336177"/>
            <a:ext cx="2662876" cy="19794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F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A1B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Profitable, Fast-Growing Coffee Business Anchored in Morning Rush &amp; Digital Payments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BrewBean analytics project consolidates sales, product, outlet, inventory, promotion and customer transaction data across 10 outlets into a single interactive dashboard. Over the analysed period, the business generated strong profitability with a healthy margin, driven largely by beverage sales during the morning hours and increasing digital payment adoption. Customer satisfaction, however, trails profitability -- signalling a clear opportunity to translate commercial strength into a better customer experience.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28803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  <a:effectLst>
            <a:outerShdw blurRad="76200" dist="25400" dir="5400000" algn="bl" rotWithShape="0">
              <a:srgbClr val="3B2A2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04088" y="3081528"/>
            <a:ext cx="109728" cy="1005840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044952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A1B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$293,688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60120" y="361188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9C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38862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10 outlets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79392" y="28803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  <a:effectLst>
            <a:outerShdw blurRad="76200" dist="25400" dir="5400000" algn="bl" rotWithShape="0">
              <a:srgbClr val="3B2A2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0560" y="3081528"/>
            <a:ext cx="109728" cy="1005840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13" name="Text 11"/>
          <p:cNvSpPr/>
          <p:nvPr/>
        </p:nvSpPr>
        <p:spPr>
          <a:xfrm>
            <a:off x="4736592" y="3044952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A1B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$175,869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36592" y="361188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9C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PROFIT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36592" y="38862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business profit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55864" y="28803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  <a:effectLst>
            <a:outerShdw blurRad="76200" dist="25400" dir="5400000" algn="bl" rotWithShape="0">
              <a:srgbClr val="3B2A2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57032" y="3081528"/>
            <a:ext cx="109728" cy="1005840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18" name="Text 16"/>
          <p:cNvSpPr/>
          <p:nvPr/>
        </p:nvSpPr>
        <p:spPr>
          <a:xfrm>
            <a:off x="8513064" y="3044952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A1B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65.2%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513064" y="361188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9C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MARGIN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13064" y="38862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total revenue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452628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  <a:effectLst>
            <a:outerShdw blurRad="76200" dist="25400" dir="5400000" algn="bl" rotWithShape="0">
              <a:srgbClr val="3B2A2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04088" y="4727448"/>
            <a:ext cx="109728" cy="1005840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" y="4690872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A1B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800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960120" y="525780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9C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60120" y="55321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sales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279392" y="452628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  <a:effectLst>
            <a:outerShdw blurRad="76200" dist="25400" dir="5400000" algn="bl" rotWithShape="0">
              <a:srgbClr val="3B2A2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480560" y="4727448"/>
            <a:ext cx="109728" cy="1005840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28" name="Text 26"/>
          <p:cNvSpPr/>
          <p:nvPr/>
        </p:nvSpPr>
        <p:spPr>
          <a:xfrm>
            <a:off x="4736592" y="4690872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A1B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44,572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4736592" y="525780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9C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SOLD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36592" y="55321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product units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055864" y="452628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  <a:effectLst>
            <a:outerShdw blurRad="76200" dist="25400" dir="5400000" algn="bl" rotWithShape="0">
              <a:srgbClr val="3B2A2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257032" y="4727448"/>
            <a:ext cx="109728" cy="1005840"/>
          </a:xfrm>
          <a:prstGeom prst="roundRect">
            <a:avLst>
              <a:gd name="adj" fmla="val 50000"/>
            </a:avLst>
          </a:prstGeom>
          <a:solidFill>
            <a:srgbClr val="D6A24C"/>
          </a:solidFill>
          <a:ln/>
        </p:spPr>
      </p:sp>
      <p:sp>
        <p:nvSpPr>
          <p:cNvPr id="33" name="Text 31"/>
          <p:cNvSpPr/>
          <p:nvPr/>
        </p:nvSpPr>
        <p:spPr>
          <a:xfrm>
            <a:off x="8513064" y="4690872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A1B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3.4 / 5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8513064" y="525780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9C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RATING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13064" y="55321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satisfaction score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BrewBean Coffee Shop  |  Sales &amp; Business Analytics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F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A1B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Business Context &amp; Analysis Objectives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394960" cy="4434840"/>
          </a:xfrm>
          <a:prstGeom prst="roundRect">
            <a:avLst>
              <a:gd name="adj" fmla="val 2062"/>
            </a:avLst>
          </a:prstGeom>
          <a:solidFill>
            <a:srgbClr val="3B2A2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6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CONTEXT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7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BrewBean operates 10 outlets across Tamil Nadu (Coimbatore, Madurai, Salem, Tiruppur, Trichy and surrounding towns). Leadership has visibility into individual transactions but lacks a unified view of which outlets, products, campaigns and payment channels actually drive revenue and profit -- making it difficult to prioritise inventory, staffing and marketing spend with confidence.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68680" y="4160520"/>
            <a:ext cx="4663440" cy="0"/>
          </a:xfrm>
          <a:prstGeom prst="line">
            <a:avLst/>
          </a:prstGeom>
          <a:noFill/>
          <a:ln w="19050">
            <a:solidFill>
              <a:srgbClr val="C16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31596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6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4681728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E8DC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source of truth turns scattered outlet, inventory, product, promotion and transaction records into decisions leadership can act on this quarter -- from restocking to campaign renewal.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172200" y="169164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9C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ANALYSIS AIMS TO SOLVE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2057400"/>
            <a:ext cx="55321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5080" y="2231136"/>
            <a:ext cx="402336" cy="402336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4" name="Text 12"/>
          <p:cNvSpPr/>
          <p:nvPr/>
        </p:nvSpPr>
        <p:spPr>
          <a:xfrm>
            <a:off x="6355080" y="2231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922008" y="211226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 Performance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922008" y="2377440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which of the 10 outlets drive the most revenue and profit, and which underperform.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72200" y="2916936"/>
            <a:ext cx="55321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55080" y="3090672"/>
            <a:ext cx="402336" cy="402336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3090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22008" y="297180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Category Mix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922008" y="3236976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best-selling products and categories to guide inventory and menu decisions.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72200" y="3776472"/>
            <a:ext cx="55321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55080" y="3950208"/>
            <a:ext cx="402336" cy="402336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4" name="Text 22"/>
          <p:cNvSpPr/>
          <p:nvPr/>
        </p:nvSpPr>
        <p:spPr>
          <a:xfrm>
            <a:off x="6355080" y="3950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922008" y="38313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Behaviour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922008" y="4096512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segment value (Gold/Platinum/Silver/Walk-in) and peak buying hours.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72200" y="4636008"/>
            <a:ext cx="55321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55080" y="4809744"/>
            <a:ext cx="402336" cy="402336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9" name="Text 27"/>
          <p:cNvSpPr/>
          <p:nvPr/>
        </p:nvSpPr>
        <p:spPr>
          <a:xfrm>
            <a:off x="6355080" y="4809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922008" y="469087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Effectiveness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922008" y="4956048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which campaigns generate the strongest sales lift and ROI.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72200" y="5495544"/>
            <a:ext cx="55321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55080" y="5669280"/>
            <a:ext cx="402336" cy="402336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34" name="Text 32"/>
          <p:cNvSpPr/>
          <p:nvPr/>
        </p:nvSpPr>
        <p:spPr>
          <a:xfrm>
            <a:off x="6355080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922008" y="555040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&amp; Operations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922008" y="5815584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payment-method adoption and operational timing to plan staffing and channels.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BrewBean Coffee Shop  |  Sales &amp; Business Analytics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F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ANALYSIS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1B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Key Insights (1/2): Customer Value &amp; Payment Behaviour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55778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91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Customer Segment ($K)</a:t>
            </a:r>
            <a:endParaRPr lang="en-US" sz="12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40080" y="1965960"/>
          <a:ext cx="530352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263640" y="1554480"/>
            <a:ext cx="544068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37960" y="1691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Preference (%)</a:t>
            </a:r>
            <a:endParaRPr lang="en-US" sz="125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6400800" y="1920240"/>
          <a:ext cx="51663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502920" y="4983480"/>
            <a:ext cx="11201400" cy="1325880"/>
          </a:xfrm>
          <a:prstGeom prst="roundRect">
            <a:avLst>
              <a:gd name="adj" fmla="val 5517"/>
            </a:avLst>
          </a:prstGeom>
          <a:solidFill>
            <a:srgbClr val="3B2A20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6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SHOWS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77240" y="54132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7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Walk-in customers generate the highest segment revenue (~$64K)</a:t>
            </a:r>
            <a:r>
              <a:rPr lang="en-US" sz="1200" dirty="0">
                <a:solidFill>
                  <a:srgbClr val="D8C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-- ahead of Gold, Platinum and Silver loyalty tiers, showing many high-value customers aren't yet enrolled in the loyalty programme.
</a:t>
            </a:r>
            <a:r>
              <a:rPr lang="en-US" sz="1200" b="1" dirty="0">
                <a:solidFill>
                  <a:srgbClr val="F7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wallets (GPay + PhonePe + UPI + Google Pay) together account for 53% of payments</a:t>
            </a:r>
            <a:r>
              <a:rPr lang="en-US" sz="1200" dirty="0">
                <a:solidFill>
                  <a:srgbClr val="D8C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edging out card and cash combined -- confirming strong UPI adoption among Tamil Nadu customers.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BrewBean Coffee Shop  |  Sales &amp; Business Analytics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F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ANALYSIS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1B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Key Insights (2/2): Peak Hours, Product Mix &amp; Campaigns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55778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91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Busiest Hours by Sales (relative volume)</a:t>
            </a:r>
            <a:endParaRPr lang="en-US" sz="12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40080" y="1965960"/>
          <a:ext cx="530352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263640" y="1554480"/>
            <a:ext cx="544068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37960" y="1691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Products Sold, by Unit Type</a:t>
            </a:r>
            <a:endParaRPr lang="en-US" sz="125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6400800" y="1965960"/>
          <a:ext cx="516636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502920" y="4983480"/>
            <a:ext cx="11201400" cy="1325880"/>
          </a:xfrm>
          <a:prstGeom prst="roundRect">
            <a:avLst>
              <a:gd name="adj" fmla="val 5517"/>
            </a:avLst>
          </a:prstGeom>
          <a:solidFill>
            <a:srgbClr val="3B2A20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6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SHOWS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77240" y="54132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7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peak sharply between 7-9 AM</a:t>
            </a:r>
            <a:r>
              <a:rPr lang="en-US" sz="1200" dirty="0">
                <a:solidFill>
                  <a:srgbClr val="D8C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taper through the day, confirming BrewBean is a morning-rush, beverage-led business.
</a:t>
            </a:r>
            <a:r>
              <a:rPr lang="en-US" sz="1200" b="1" dirty="0">
                <a:solidFill>
                  <a:srgbClr val="F7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Cup-based items dominate unit sales</a:t>
            </a:r>
            <a:r>
              <a:rPr lang="en-US" sz="1200" dirty="0">
                <a:solidFill>
                  <a:srgbClr val="D8C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 plates, glasses and bottles, while the </a:t>
            </a:r>
            <a:r>
              <a:rPr lang="en-US" sz="1200" b="1" dirty="0">
                <a:solidFill>
                  <a:srgbClr val="F7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"Weekend Family" and "Summer Chillers" campaigns</a:t>
            </a:r>
            <a:r>
              <a:rPr lang="en-US" sz="1200" dirty="0">
                <a:solidFill>
                  <a:srgbClr val="D8C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led promotion performance; customer rating sits at a modest 3.4/5.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BrewBean Coffee Shop  |  Sales &amp; Business Analytics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F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A1B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Business Recommendations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  <a:effectLst>
            <a:outerShdw blurRad="63500" dist="25400" dir="5400000" algn="bl" rotWithShape="0">
              <a:srgbClr val="3B2A2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874520"/>
            <a:ext cx="457200" cy="45720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04088" y="2423160"/>
            <a:ext cx="3209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A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walk-ins into loyalty members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04088" y="2898648"/>
            <a:ext cx="3209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an at-till loyalty sign-up (QR/app) targeting the walk-in segment, which already out-earns Gold, Platinum and Silver tiers combined per visit.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  <a:effectLst>
            <a:outerShdw blurRad="63500" dist="25400" dir="5400000" algn="bl" rotWithShape="0">
              <a:srgbClr val="3B2A2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98848" y="1874520"/>
            <a:ext cx="457200" cy="457200"/>
          </a:xfrm>
          <a:prstGeom prst="ellipse">
            <a:avLst/>
          </a:prstGeom>
          <a:solidFill>
            <a:srgbClr val="748C5B"/>
          </a:solidFill>
          <a:ln/>
        </p:spPr>
      </p:sp>
      <p:sp>
        <p:nvSpPr>
          <p:cNvPr id="12" name="Text 10"/>
          <p:cNvSpPr/>
          <p:nvPr/>
        </p:nvSpPr>
        <p:spPr>
          <a:xfrm>
            <a:off x="4498848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98848" y="2423160"/>
            <a:ext cx="3209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A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down on the morning rush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98848" y="2898648"/>
            <a:ext cx="3209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staffing, pre-batch beverages, and run 7-9 AM flash offers to protect service speed during the single busiest window of the day.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9244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  <a:effectLst>
            <a:outerShdw blurRad="63500" dist="25400" dir="5400000" algn="bl" rotWithShape="0">
              <a:srgbClr val="3B2A2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93608" y="1874520"/>
            <a:ext cx="457200" cy="45720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7" name="Text 15"/>
          <p:cNvSpPr/>
          <p:nvPr/>
        </p:nvSpPr>
        <p:spPr>
          <a:xfrm>
            <a:off x="8293608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93608" y="2423160"/>
            <a:ext cx="3209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A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 the digital payment stack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93608" y="2898648"/>
            <a:ext cx="3209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GPay, PhonePe and UPI checkout is fast and incentivised, since digital wallets already handle 53% of transactions.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84048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  <a:effectLst>
            <a:outerShdw blurRad="63500" dist="25400" dir="5400000" algn="bl" rotWithShape="0">
              <a:srgbClr val="3B2A2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04088" y="4023360"/>
            <a:ext cx="457200" cy="457200"/>
          </a:xfrm>
          <a:prstGeom prst="ellipse">
            <a:avLst/>
          </a:prstGeom>
          <a:solidFill>
            <a:srgbClr val="748C5B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4088" y="4572000"/>
            <a:ext cx="3209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A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Re-invest in top campaigns, retire laggards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4088" y="5047488"/>
            <a:ext cx="3209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"Weekend Family" and "Summer Chillers" style promotions; redesign or retire lowest-performing campaigns such as "Buy 1 Get 1 Coffee".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97680" y="384048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  <a:effectLst>
            <a:outerShdw blurRad="63500" dist="25400" dir="5400000" algn="bl" rotWithShape="0">
              <a:srgbClr val="3B2A2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98848" y="4023360"/>
            <a:ext cx="457200" cy="45720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7" name="Text 25"/>
          <p:cNvSpPr/>
          <p:nvPr/>
        </p:nvSpPr>
        <p:spPr>
          <a:xfrm>
            <a:off x="4498848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498848" y="4572000"/>
            <a:ext cx="3209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A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inventory around cup-based items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498848" y="5047488"/>
            <a:ext cx="3209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stock and supplier orders toward high-turnover cup-based beverages/snacks rather than lower-velocity plate and bottle items.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92440" y="384048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6C3"/>
            </a:solidFill>
            <a:prstDash val="solid"/>
          </a:ln>
          <a:effectLst>
            <a:outerShdw blurRad="63500" dist="25400" dir="5400000" algn="bl" rotWithShape="0">
              <a:srgbClr val="3B2A20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293608" y="4023360"/>
            <a:ext cx="457200" cy="457200"/>
          </a:xfrm>
          <a:prstGeom prst="ellipse">
            <a:avLst/>
          </a:prstGeom>
          <a:solidFill>
            <a:srgbClr val="748C5B"/>
          </a:solidFill>
          <a:ln/>
        </p:spPr>
      </p:sp>
      <p:sp>
        <p:nvSpPr>
          <p:cNvPr id="32" name="Text 30"/>
          <p:cNvSpPr/>
          <p:nvPr/>
        </p:nvSpPr>
        <p:spPr>
          <a:xfrm>
            <a:off x="8293608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293608" y="4572000"/>
            <a:ext cx="3209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A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a service-quality improvement plan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93608" y="5047488"/>
            <a:ext cx="3209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the 3.4/5 rating via in-store feedback and mystery visits at the lowest-rated outlets to close the gap between strong profit and average experience.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BrewBean Coffee Shop  |  Sales &amp; Business Analytics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B2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572000" cy="4572000"/>
          </a:xfrm>
          <a:prstGeom prst="ellipse">
            <a:avLst/>
          </a:prstGeom>
          <a:solidFill>
            <a:srgbClr val="2C1F17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89611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7EFE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Implementation Roadmap &amp; Next Steps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8C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phased, 12-week plan to turn insights into measurable outlet-level impact.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148840"/>
            <a:ext cx="2670048" cy="3977640"/>
          </a:xfrm>
          <a:prstGeom prst="roundRect">
            <a:avLst>
              <a:gd name="adj" fmla="val 2740"/>
            </a:avLst>
          </a:prstGeom>
          <a:solidFill>
            <a:srgbClr val="463323"/>
          </a:solidFill>
          <a:ln w="12700">
            <a:solidFill>
              <a:srgbClr val="5A46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148840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C1652F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2606040"/>
            <a:ext cx="2670048" cy="320040"/>
          </a:xfrm>
          <a:prstGeom prst="rect">
            <a:avLst/>
          </a:prstGeom>
          <a:solidFill>
            <a:srgbClr val="C1652F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225856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04088" y="2514600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1-2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4088" y="306324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6A24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Stabilise &amp; Align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04088" y="3666744"/>
            <a:ext cx="82296" cy="82296"/>
          </a:xfrm>
          <a:prstGeom prst="ellipse">
            <a:avLst/>
          </a:prstGeom>
          <a:solidFill>
            <a:srgbClr val="D6A24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968" y="356616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F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dashboard data across all 10 outlets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04088" y="4379976"/>
            <a:ext cx="82296" cy="82296"/>
          </a:xfrm>
          <a:prstGeom prst="ellipse">
            <a:avLst/>
          </a:prstGeom>
          <a:solidFill>
            <a:srgbClr val="D6A24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968" y="4279392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F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KPI baseline with outlet managers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04088" y="5093208"/>
            <a:ext cx="82296" cy="82296"/>
          </a:xfrm>
          <a:prstGeom prst="ellipse">
            <a:avLst/>
          </a:prstGeom>
          <a:solidFill>
            <a:srgbClr val="D6A24C"/>
          </a:solidFill>
          <a:ln/>
        </p:spPr>
      </p:sp>
      <p:sp>
        <p:nvSpPr>
          <p:cNvPr id="18" name="Text 16"/>
          <p:cNvSpPr/>
          <p:nvPr/>
        </p:nvSpPr>
        <p:spPr>
          <a:xfrm>
            <a:off x="886968" y="4992624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F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lowest-rated outlets for a service audit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337560" y="2148840"/>
            <a:ext cx="2670048" cy="3977640"/>
          </a:xfrm>
          <a:prstGeom prst="roundRect">
            <a:avLst>
              <a:gd name="adj" fmla="val 2740"/>
            </a:avLst>
          </a:prstGeom>
          <a:solidFill>
            <a:srgbClr val="463323"/>
          </a:solidFill>
          <a:ln w="12700">
            <a:solidFill>
              <a:srgbClr val="5A46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37560" y="2148840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C1652F"/>
          </a:solidFill>
          <a:ln/>
        </p:spPr>
      </p:sp>
      <p:sp>
        <p:nvSpPr>
          <p:cNvPr id="21" name="Shape 19"/>
          <p:cNvSpPr/>
          <p:nvPr/>
        </p:nvSpPr>
        <p:spPr>
          <a:xfrm>
            <a:off x="3337560" y="2606040"/>
            <a:ext cx="2670048" cy="320040"/>
          </a:xfrm>
          <a:prstGeom prst="rect">
            <a:avLst/>
          </a:prstGeom>
          <a:solidFill>
            <a:srgbClr val="C1652F"/>
          </a:solidFill>
          <a:ln/>
        </p:spPr>
      </p:sp>
      <p:sp>
        <p:nvSpPr>
          <p:cNvPr id="22" name="Text 20"/>
          <p:cNvSpPr/>
          <p:nvPr/>
        </p:nvSpPr>
        <p:spPr>
          <a:xfrm>
            <a:off x="3538728" y="225856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538728" y="2514600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3-6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38728" y="306324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6A24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Quick Wins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538728" y="3666744"/>
            <a:ext cx="82296" cy="82296"/>
          </a:xfrm>
          <a:prstGeom prst="ellipse">
            <a:avLst/>
          </a:prstGeom>
          <a:solidFill>
            <a:srgbClr val="D6A24C"/>
          </a:solidFill>
          <a:ln/>
        </p:spPr>
      </p:sp>
      <p:sp>
        <p:nvSpPr>
          <p:cNvPr id="26" name="Text 24"/>
          <p:cNvSpPr/>
          <p:nvPr/>
        </p:nvSpPr>
        <p:spPr>
          <a:xfrm>
            <a:off x="3721608" y="356616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F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walk-in loyalty QR sign-up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538728" y="4379976"/>
            <a:ext cx="82296" cy="82296"/>
          </a:xfrm>
          <a:prstGeom prst="ellipse">
            <a:avLst/>
          </a:prstGeom>
          <a:solidFill>
            <a:srgbClr val="D6A24C"/>
          </a:solidFill>
          <a:ln/>
        </p:spPr>
      </p:sp>
      <p:sp>
        <p:nvSpPr>
          <p:cNvPr id="28" name="Text 26"/>
          <p:cNvSpPr/>
          <p:nvPr/>
        </p:nvSpPr>
        <p:spPr>
          <a:xfrm>
            <a:off x="3721608" y="4279392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F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7-9 AM staffing &amp; prep playbook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538728" y="5093208"/>
            <a:ext cx="82296" cy="82296"/>
          </a:xfrm>
          <a:prstGeom prst="ellipse">
            <a:avLst/>
          </a:prstGeom>
          <a:solidFill>
            <a:srgbClr val="D6A24C"/>
          </a:solidFill>
          <a:ln/>
        </p:spPr>
      </p:sp>
      <p:sp>
        <p:nvSpPr>
          <p:cNvPr id="30" name="Text 28"/>
          <p:cNvSpPr/>
          <p:nvPr/>
        </p:nvSpPr>
        <p:spPr>
          <a:xfrm>
            <a:off x="3721608" y="4992624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F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UPI/wallet checkout incentives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72200" y="2148840"/>
            <a:ext cx="2670048" cy="3977640"/>
          </a:xfrm>
          <a:prstGeom prst="roundRect">
            <a:avLst>
              <a:gd name="adj" fmla="val 2740"/>
            </a:avLst>
          </a:prstGeom>
          <a:solidFill>
            <a:srgbClr val="463323"/>
          </a:solidFill>
          <a:ln w="12700">
            <a:solidFill>
              <a:srgbClr val="5A46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72200" y="2148840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C1652F"/>
          </a:solidFill>
          <a:ln/>
        </p:spPr>
      </p:sp>
      <p:sp>
        <p:nvSpPr>
          <p:cNvPr id="33" name="Shape 31"/>
          <p:cNvSpPr/>
          <p:nvPr/>
        </p:nvSpPr>
        <p:spPr>
          <a:xfrm>
            <a:off x="6172200" y="2606040"/>
            <a:ext cx="2670048" cy="320040"/>
          </a:xfrm>
          <a:prstGeom prst="rect">
            <a:avLst/>
          </a:prstGeom>
          <a:solidFill>
            <a:srgbClr val="C1652F"/>
          </a:solidFill>
          <a:ln/>
        </p:spPr>
      </p:sp>
      <p:sp>
        <p:nvSpPr>
          <p:cNvPr id="34" name="Text 32"/>
          <p:cNvSpPr/>
          <p:nvPr/>
        </p:nvSpPr>
        <p:spPr>
          <a:xfrm>
            <a:off x="6373368" y="225856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373368" y="2514600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7-10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73368" y="306324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6A24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Optimise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73368" y="3666744"/>
            <a:ext cx="82296" cy="82296"/>
          </a:xfrm>
          <a:prstGeom prst="ellipse">
            <a:avLst/>
          </a:prstGeom>
          <a:solidFill>
            <a:srgbClr val="D6A24C"/>
          </a:solidFill>
          <a:ln/>
        </p:spPr>
      </p:sp>
      <p:sp>
        <p:nvSpPr>
          <p:cNvPr id="38" name="Text 36"/>
          <p:cNvSpPr/>
          <p:nvPr/>
        </p:nvSpPr>
        <p:spPr>
          <a:xfrm>
            <a:off x="6556248" y="356616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F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Re-launch top campaigns (Weekend Family, Summer Chillers)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373368" y="4379976"/>
            <a:ext cx="82296" cy="82296"/>
          </a:xfrm>
          <a:prstGeom prst="ellipse">
            <a:avLst/>
          </a:prstGeom>
          <a:solidFill>
            <a:srgbClr val="D6A24C"/>
          </a:solidFill>
          <a:ln/>
        </p:spPr>
      </p:sp>
      <p:sp>
        <p:nvSpPr>
          <p:cNvPr id="40" name="Text 38"/>
          <p:cNvSpPr/>
          <p:nvPr/>
        </p:nvSpPr>
        <p:spPr>
          <a:xfrm>
            <a:off x="6556248" y="4279392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F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Re-balance inventory toward cup-based items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373368" y="5093208"/>
            <a:ext cx="82296" cy="82296"/>
          </a:xfrm>
          <a:prstGeom prst="ellipse">
            <a:avLst/>
          </a:prstGeom>
          <a:solidFill>
            <a:srgbClr val="D6A24C"/>
          </a:solidFill>
          <a:ln/>
        </p:spPr>
      </p:sp>
      <p:sp>
        <p:nvSpPr>
          <p:cNvPr id="42" name="Text 40"/>
          <p:cNvSpPr/>
          <p:nvPr/>
        </p:nvSpPr>
        <p:spPr>
          <a:xfrm>
            <a:off x="6556248" y="4992624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F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or redesign lowest-ROI promotions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9006840" y="2148840"/>
            <a:ext cx="2670048" cy="3977640"/>
          </a:xfrm>
          <a:prstGeom prst="roundRect">
            <a:avLst>
              <a:gd name="adj" fmla="val 2740"/>
            </a:avLst>
          </a:prstGeom>
          <a:solidFill>
            <a:srgbClr val="463323"/>
          </a:solidFill>
          <a:ln w="12700">
            <a:solidFill>
              <a:srgbClr val="5A46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006840" y="2148840"/>
            <a:ext cx="2670048" cy="777240"/>
          </a:xfrm>
          <a:prstGeom prst="roundRect">
            <a:avLst>
              <a:gd name="adj" fmla="val 9412"/>
            </a:avLst>
          </a:prstGeom>
          <a:solidFill>
            <a:srgbClr val="C1652F"/>
          </a:solidFill>
          <a:ln/>
        </p:spPr>
      </p:sp>
      <p:sp>
        <p:nvSpPr>
          <p:cNvPr id="45" name="Shape 43"/>
          <p:cNvSpPr/>
          <p:nvPr/>
        </p:nvSpPr>
        <p:spPr>
          <a:xfrm>
            <a:off x="9006840" y="2606040"/>
            <a:ext cx="2670048" cy="320040"/>
          </a:xfrm>
          <a:prstGeom prst="rect">
            <a:avLst/>
          </a:prstGeom>
          <a:solidFill>
            <a:srgbClr val="C1652F"/>
          </a:solidFill>
          <a:ln/>
        </p:spPr>
      </p:sp>
      <p:sp>
        <p:nvSpPr>
          <p:cNvPr id="46" name="Text 44"/>
          <p:cNvSpPr/>
          <p:nvPr/>
        </p:nvSpPr>
        <p:spPr>
          <a:xfrm>
            <a:off x="9208008" y="225856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9208008" y="2514600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11-12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208008" y="306324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6A24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Review &amp; Scale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9208008" y="3666744"/>
            <a:ext cx="82296" cy="82296"/>
          </a:xfrm>
          <a:prstGeom prst="ellipse">
            <a:avLst/>
          </a:prstGeom>
          <a:solidFill>
            <a:srgbClr val="D6A24C"/>
          </a:solidFill>
          <a:ln/>
        </p:spPr>
      </p:sp>
      <p:sp>
        <p:nvSpPr>
          <p:cNvPr id="50" name="Text 48"/>
          <p:cNvSpPr/>
          <p:nvPr/>
        </p:nvSpPr>
        <p:spPr>
          <a:xfrm>
            <a:off x="9390888" y="356616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F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Re-measure revenue, margin &amp; rating vs. baseline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9208008" y="4379976"/>
            <a:ext cx="82296" cy="82296"/>
          </a:xfrm>
          <a:prstGeom prst="ellipse">
            <a:avLst/>
          </a:prstGeom>
          <a:solidFill>
            <a:srgbClr val="D6A24C"/>
          </a:solidFill>
          <a:ln/>
        </p:spPr>
      </p:sp>
      <p:sp>
        <p:nvSpPr>
          <p:cNvPr id="52" name="Text 50"/>
          <p:cNvSpPr/>
          <p:nvPr/>
        </p:nvSpPr>
        <p:spPr>
          <a:xfrm>
            <a:off x="9390888" y="4279392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F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winning playbooks to all outlets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9208008" y="5093208"/>
            <a:ext cx="82296" cy="82296"/>
          </a:xfrm>
          <a:prstGeom prst="ellipse">
            <a:avLst/>
          </a:prstGeom>
          <a:solidFill>
            <a:srgbClr val="D6A24C"/>
          </a:solidFill>
          <a:ln/>
        </p:spPr>
      </p:sp>
      <p:sp>
        <p:nvSpPr>
          <p:cNvPr id="54" name="Text 52"/>
          <p:cNvSpPr/>
          <p:nvPr/>
        </p:nvSpPr>
        <p:spPr>
          <a:xfrm>
            <a:off x="9390888" y="4992624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F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next-quarter targets &amp; dashboard cadence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502920" y="619963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9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Analytics &amp; Operations Team   |   Success Metric: +5 pts margin retention, rating → 4.0+, walk-in loyalty conversion ≥ 20%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9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BrewBean Coffee Shop  |  Sales &amp; Business Analytics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9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983</Words>
  <Application>Microsoft Office PowerPoint</Application>
  <PresentationFormat>Widescreen</PresentationFormat>
  <Paragraphs>133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Bookman Old Style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ranjith karthi</cp:lastModifiedBy>
  <cp:revision>2</cp:revision>
  <dcterms:created xsi:type="dcterms:W3CDTF">2026-09-10T16:43:27Z</dcterms:created>
  <dcterms:modified xsi:type="dcterms:W3CDTF">2026-09-10T16:50:58Z</dcterms:modified>
</cp:coreProperties>
</file>